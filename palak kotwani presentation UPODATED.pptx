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notesSlides/notesSlide13.xml" ContentType="application/vnd.openxmlformats-officedocument.presentationml.notesSlide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64" r:id="rId11"/>
    <p:sldId id="265" r:id="rId12"/>
    <p:sldId id="271" r:id="rId13"/>
    <p:sldId id="266" r:id="rId14"/>
    <p:sldId id="263" r:id="rId15"/>
  </p:sldIdLst>
  <p:sldSz cx="9144000" cy="5143500" type="screen16x9"/>
  <p:notesSz cx="5143500" cy="9144000"/>
  <p:custDataLst>
    <p:tags r:id="rId1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" y="1325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na Kotwani" userId="3b6fb2d240f53904" providerId="LiveId" clId="{188CB08A-E54E-40AB-9833-847A6B555ACB}"/>
    <pc:docChg chg="undo custSel modSld sldOrd">
      <pc:chgData name="Heena Kotwani" userId="3b6fb2d240f53904" providerId="LiveId" clId="{188CB08A-E54E-40AB-9833-847A6B555ACB}" dt="2026-04-13T12:36:08.331" v="153"/>
      <pc:docMkLst>
        <pc:docMk/>
      </pc:docMkLst>
      <pc:sldChg chg="addSp delSp modSp mod modTransition delAnim">
        <pc:chgData name="Heena Kotwani" userId="3b6fb2d240f53904" providerId="LiveId" clId="{188CB08A-E54E-40AB-9833-847A6B555ACB}" dt="2026-04-10T16:04:21.703" v="149" actId="5793"/>
        <pc:sldMkLst>
          <pc:docMk/>
          <pc:sldMk cId="0" sldId="257"/>
        </pc:sldMkLst>
        <pc:spChg chg="add del mod">
          <ac:chgData name="Heena Kotwani" userId="3b6fb2d240f53904" providerId="LiveId" clId="{188CB08A-E54E-40AB-9833-847A6B555ACB}" dt="2026-04-10T16:04:21.703" v="149" actId="5793"/>
          <ac:spMkLst>
            <pc:docMk/>
            <pc:sldMk cId="0" sldId="257"/>
            <ac:spMk id="24" creationId="{90865657-EE51-429D-40B6-B64C80E4AB47}"/>
          </ac:spMkLst>
        </pc:spChg>
      </pc:sldChg>
      <pc:sldChg chg="addSp delSp modSp mod ord modTransition delAnim">
        <pc:chgData name="Heena Kotwani" userId="3b6fb2d240f53904" providerId="LiveId" clId="{188CB08A-E54E-40AB-9833-847A6B555ACB}" dt="2026-04-13T12:36:08.331" v="153"/>
        <pc:sldMkLst>
          <pc:docMk/>
          <pc:sldMk cId="0" sldId="258"/>
        </pc:sldMkLst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0" sldId="259"/>
        </pc:sldMkLst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0" sldId="260"/>
        </pc:sldMkLst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0" sldId="261"/>
        </pc:sldMkLst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0" sldId="262"/>
        </pc:sldMkLst>
      </pc:sldChg>
      <pc:sldChg chg="addSp delSp modSp modTransition">
        <pc:chgData name="Heena Kotwani" userId="3b6fb2d240f53904" providerId="LiveId" clId="{188CB08A-E54E-40AB-9833-847A6B555ACB}" dt="2026-04-10T15:57:36.847" v="64"/>
        <pc:sldMkLst>
          <pc:docMk/>
          <pc:sldMk cId="0" sldId="263"/>
        </pc:sldMkLst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0" sldId="264"/>
        </pc:sldMkLst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0" sldId="265"/>
        </pc:sldMkLst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0" sldId="266"/>
        </pc:sldMkLst>
      </pc:sldChg>
      <pc:sldChg chg="addSp delSp modSp mod modTransition delAnim modAnim">
        <pc:chgData name="Heena Kotwani" userId="3b6fb2d240f53904" providerId="LiveId" clId="{188CB08A-E54E-40AB-9833-847A6B555ACB}" dt="2026-04-10T15:57:36.847" v="64"/>
        <pc:sldMkLst>
          <pc:docMk/>
          <pc:sldMk cId="121223606" sldId="268"/>
        </pc:sldMkLst>
        <pc:grpChg chg="mod">
          <ac:chgData name="Heena Kotwani" userId="3b6fb2d240f53904" providerId="LiveId" clId="{188CB08A-E54E-40AB-9833-847A6B555ACB}" dt="2026-04-10T15:56:45.650" v="63" actId="1036"/>
          <ac:grpSpMkLst>
            <pc:docMk/>
            <pc:sldMk cId="121223606" sldId="268"/>
            <ac:grpSpMk id="23" creationId="{2ABF0622-9241-CD75-6B4F-4578A248FF9B}"/>
          </ac:grpSpMkLst>
        </pc:grpChg>
        <pc:picChg chg="add mod">
          <ac:chgData name="Heena Kotwani" userId="3b6fb2d240f53904" providerId="LiveId" clId="{188CB08A-E54E-40AB-9833-847A6B555ACB}" dt="2026-04-10T15:49:49.216" v="58"/>
          <ac:picMkLst>
            <pc:docMk/>
            <pc:sldMk cId="121223606" sldId="268"/>
            <ac:picMk id="26" creationId="{BAC847B7-81BA-28A5-EA9A-9A183AF66068}"/>
          </ac:picMkLst>
        </pc:picChg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2800523426" sldId="271"/>
        </pc:sldMkLst>
      </pc:sldChg>
      <pc:sldChg chg="addSp delSp modSp mod modTransition delAnim">
        <pc:chgData name="Heena Kotwani" userId="3b6fb2d240f53904" providerId="LiveId" clId="{188CB08A-E54E-40AB-9833-847A6B555ACB}" dt="2026-04-10T16:01:05.924" v="121" actId="1076"/>
        <pc:sldMkLst>
          <pc:docMk/>
          <pc:sldMk cId="4014669509" sldId="272"/>
        </pc:sldMkLst>
        <pc:spChg chg="mod">
          <ac:chgData name="Heena Kotwani" userId="3b6fb2d240f53904" providerId="LiveId" clId="{188CB08A-E54E-40AB-9833-847A6B555ACB}" dt="2026-04-10T16:01:05.924" v="121" actId="1076"/>
          <ac:spMkLst>
            <pc:docMk/>
            <pc:sldMk cId="4014669509" sldId="272"/>
            <ac:spMk id="4" creationId="{4ECF7404-4F47-9581-29BD-C3F824836D00}"/>
          </ac:spMkLst>
        </pc:spChg>
      </pc:sldChg>
      <pc:sldChg chg="addSp delSp modSp mod modTransition delAnim">
        <pc:chgData name="Heena Kotwani" userId="3b6fb2d240f53904" providerId="LiveId" clId="{188CB08A-E54E-40AB-9833-847A6B555ACB}" dt="2026-04-10T15:57:36.847" v="64"/>
        <pc:sldMkLst>
          <pc:docMk/>
          <pc:sldMk cId="2671150582" sldId="273"/>
        </pc:sldMkLst>
        <pc:spChg chg="mod">
          <ac:chgData name="Heena Kotwani" userId="3b6fb2d240f53904" providerId="LiveId" clId="{188CB08A-E54E-40AB-9833-847A6B555ACB}" dt="2026-04-10T13:43:49.966" v="10" actId="20577"/>
          <ac:spMkLst>
            <pc:docMk/>
            <pc:sldMk cId="2671150582" sldId="273"/>
            <ac:spMk id="4" creationId="{3554F185-99A6-F6AA-B1E9-147493E402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6D1A-6304-0808-DC03-9DFBBEA0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EFBFA-5829-3818-4B30-33C6FCEB6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ECC05-E73E-8B43-5F92-B6DBE60CA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07C30-7EEF-A54B-2ED7-AD08E6EDC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4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DB290-242C-E988-6347-30600877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2F41C-8E13-557B-5DCA-55C791B64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2FB23-D1E7-43FB-CA61-B939662B5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B409B-1B3E-2B95-B07B-7616337EE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79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8495-A6C8-227D-F03A-C3683DA7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A175C-CF08-105C-DE8D-5C446E02C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0A78D-54FF-0DD9-672E-61E16705F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BE46E-4D39-7EB4-0615-B08C789BC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59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  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35245" y="783733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1990456" y="437375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 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1961876" y="4502303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Palak Kotwani</a:t>
            </a:r>
          </a:p>
        </p:txBody>
      </p:sp>
      <p:pic>
        <p:nvPicPr>
          <p:cNvPr id="50" name="Picture 49" descr="A blue circle with a person and a envelope in it  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1615694" y="4346948"/>
            <a:ext cx="346182" cy="334329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654609" y="4375963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600118" y="4502302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kotwanip065@gmail.com</a:t>
            </a:r>
          </a:p>
        </p:txBody>
      </p:sp>
      <p:pic>
        <p:nvPicPr>
          <p:cNvPr id="51" name="Picture 50" descr="A blue circle with a person and a envelope in it  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3171635" y="4301106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364882" y="4337076"/>
            <a:ext cx="2272871" cy="360187"/>
            <a:chOff x="2644122" y="4295282"/>
            <a:chExt cx="2272871" cy="360187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2695895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2644122" y="4428034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Maheswari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38435" y="4332547"/>
            <a:ext cx="329725" cy="334329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  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  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98623" y="3505955"/>
            <a:ext cx="5447162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IN" sz="2000" b="1" dirty="0"/>
              <a:t>AI-Driven Inventory Optimization &amp; Demand-Supply Analysis Using Excel</a:t>
            </a:r>
            <a:endParaRPr lang="en-IN" sz="1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  <a:p>
            <a:pPr>
              <a:spcAft>
                <a:spcPts val="800"/>
              </a:spcAft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5" name="Picture 24" descr="A screen shot of a computer  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4122295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spcAft>
                <a:spcPts val="4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AI-Driven Inventory Optimization &amp; Demand-Supply Analysis Using Excel — AICW Fellowship, Edunet Foundation in partnership with Microsoft, LinkedIn &amp; SAP.</a:t>
            </a:r>
          </a:p>
          <a:p>
            <a:pPr marL="228600" indent="-228600" algn="just">
              <a:spcAft>
                <a:spcPts val="4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Analyzes 990 product records across 16 fields and 7 categories using Excel and AI tools to compute KPIs and surface inventory insights.</a:t>
            </a:r>
          </a:p>
          <a:p>
            <a:pPr marL="228600" indent="-228600" algn="just">
              <a:spcAft>
                <a:spcPts val="4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Tools: Microsoft Excel (pivot tables, IF/COUNTIF formulas, KPI sheet), Microsoft Copilot &amp; ChatGPT for AI-assisted insights.</a:t>
            </a:r>
          </a:p>
          <a:p>
            <a:pPr marL="228600" indent="-228600" algn="just">
              <a:spcAft>
                <a:spcPts val="4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Key results: 53.4% orders pending; turnover rate 50.15; Bread Flour fastest (1,002 units); Lettuce slowest (166 units); Fruits &amp; Vegetables leads with 19,361 sales units.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235677" y="1082801"/>
            <a:ext cx="3649243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81134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373018" cy="32726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28600" indent="-228600" algn="just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53% of all orders (529/990) are pending — sales demand exceeds available stock.</a:t>
            </a:r>
          </a:p>
          <a:p>
            <a:pPr marL="228600" indent="-228600" algn="just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Stock-demand mismatch causes delayed replenishment, missed sales and reactive decision-making.</a:t>
            </a:r>
          </a:p>
          <a:p>
            <a:pPr marL="228600" indent="-228600" algn="just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Affects SMEs across 7 categories: Fruits &amp; Vegetables, Dairy, Grains &amp; Pulses, Seafood, Beverages, Oils &amp; Fats, Bakery.</a:t>
            </a:r>
          </a:p>
          <a:p>
            <a:pPr marL="228600" indent="-228600" algn="just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No accessible, unified Excel-based KPI model with AI integration exists for SME-level inventory datasets — a clear gap this project fills.</a:t>
            </a:r>
          </a:p>
          <a:p>
            <a:pPr marL="228600" indent="-228600" algn="just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Dataset lacks demand forecasting, partial fulfilment tracking, and revenue/profit data — identified as future scope areas.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381" y="740280"/>
            <a:ext cx="5766619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332588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Five Excel modules built: Data Ingestion, Formula Validation, KPI Computation, Pivot Table Analysis, and AI Integration. KPIs: Turnover Rate 50.15, Fulfilment Rate 46.57%, Avg Delivery 4.57 days. Pivot table: Bread Flour fastest (1,002 units), Lettuce slowest (166 units). Copilot &amp; ChatGPT cut documentation time ~60-70%. Fully Excel-based — no specialist software needed.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 workbook: 990 rows, 16 columns, 7 product categories, 350 unique suppliers. Structured as Excel Table1 with formula-driven status columns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IF/COUNTIF formula audit (Fulfilled/Pending, Reorder Status, Out of Stock Flag). KPI sheet: AVERAGE, COUNTIF, SUM. Pivot table for product-level sales summary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Microsoft Copilot (via Microsoft 365) used to interpret KPI outputs, generate written business insight summaries, and assist in report drafting through structured prompts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KPI Dashboard (6 key metrics), Pivot Table summary (58,336 total units across all products), and structured project report with conclusions and AI-assisted narratives.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KPI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KPI Sheet: Turnover Rate 50.15, Fulfilled 461/990, Pending 529/990, Avg Delivery 4.57 days, Fulfilment Rate 46.57%.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Pivot Table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Pivot by Product Name. Fastest: Bread Flour (1,002 units). Slowest: Lettuce (166 units). Grand Total: 58,336 units.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Copilot prompts: interpreted KPIs, analyzed 53.4% pending issue, suggested replenishment for 465 flagged products</a:t>
            </a:r>
            <a:r>
              <a:rPr lang="en-US" sz="1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51A7-BA28-C53B-D90A-D8B8C9C47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ECF7404-4F47-9581-29BD-C3F824836D00}"/>
              </a:ext>
            </a:extLst>
          </p:cNvPr>
          <p:cNvSpPr/>
          <p:nvPr/>
        </p:nvSpPr>
        <p:spPr>
          <a:xfrm>
            <a:off x="974080" y="544023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latin typeface="Lato" panose="020F0502020204030203" pitchFamily="34" charset="0"/>
                <a:cs typeface="Arial" panose="020B0604020202020204" pitchFamily="34" charset="0"/>
              </a:rPr>
              <a:t>                              </a:t>
            </a:r>
            <a:r>
              <a:rPr lang="en-US" sz="3200" b="1" dirty="0">
                <a:latin typeface="Lato" panose="020F0502020204030203" pitchFamily="34" charset="0"/>
                <a:cs typeface="Arial" panose="020B0604020202020204" pitchFamily="34" charset="0"/>
              </a:rPr>
              <a:t>KPI’s 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B98181D-89B0-DC44-5A75-B969E7E2DCF4}"/>
              </a:ext>
            </a:extLst>
          </p:cNvPr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7421D69-4B0E-0DE3-2C41-1BAAE63BE6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5722" y="2701290"/>
            <a:ext cx="7405311" cy="58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400" b="1" dirty="0"/>
              <a:t>Sales Volume:</a:t>
            </a:r>
            <a:r>
              <a:rPr lang="en-US" sz="1400" dirty="0"/>
              <a:t> Sales are strong for high-demand products, while a few items show comparatively lower movement.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E5D970-5DAD-1BDE-D44E-8CE0F8C8A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59" y="1046658"/>
            <a:ext cx="1278782" cy="6800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E8DB2B-58E8-DA50-533D-8D5530E87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59" y="1811972"/>
            <a:ext cx="1278781" cy="6800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5F9CD3-98E7-616E-7E03-ABFAF6D7F3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659" y="2608326"/>
            <a:ext cx="1278781" cy="6800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B4B1DC-6B2E-BF45-495A-E404C2FDE0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659" y="3384766"/>
            <a:ext cx="1278783" cy="6800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7183CB-BC0E-A954-EBB2-8193590D93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337" y="4161207"/>
            <a:ext cx="1309826" cy="6965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2D2FDBF-7760-E8C2-13AB-F76DAFD17F32}"/>
              </a:ext>
            </a:extLst>
          </p:cNvPr>
          <p:cNvSpPr txBox="1"/>
          <p:nvPr/>
        </p:nvSpPr>
        <p:spPr>
          <a:xfrm>
            <a:off x="1671163" y="1079222"/>
            <a:ext cx="7405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Inventory Turnover Rate:</a:t>
            </a:r>
            <a:r>
              <a:rPr lang="en-US" sz="1400" dirty="0"/>
              <a:t> Fast-moving items show high turnover, indicating efficient sales, whereas slow-moving stock may need attention.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9CF52-B33D-6863-246C-764551B03CB8}"/>
              </a:ext>
            </a:extLst>
          </p:cNvPr>
          <p:cNvSpPr txBox="1"/>
          <p:nvPr/>
        </p:nvSpPr>
        <p:spPr>
          <a:xfrm>
            <a:off x="1671163" y="1890256"/>
            <a:ext cx="7349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Delivery Days:</a:t>
            </a:r>
            <a:r>
              <a:rPr lang="en-US" sz="1400" dirty="0"/>
              <a:t> Delivery timelines are consistent, though delays in some cases may impact inventory availability.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D9BF5C-79E8-CB46-921F-38B72988AEB4}"/>
              </a:ext>
            </a:extLst>
          </p:cNvPr>
          <p:cNvSpPr txBox="1"/>
          <p:nvPr/>
        </p:nvSpPr>
        <p:spPr>
          <a:xfrm>
            <a:off x="1671163" y="3466673"/>
            <a:ext cx="7349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Fulfilled/Pending Orders</a:t>
            </a:r>
            <a:r>
              <a:rPr lang="en-US" sz="1400" dirty="0"/>
              <a:t>: High % of orders are pending which indicated inefficient inventory management.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46C922-5F3C-6C92-9862-C02EE601CA39}"/>
              </a:ext>
            </a:extLst>
          </p:cNvPr>
          <p:cNvSpPr txBox="1"/>
          <p:nvPr/>
        </p:nvSpPr>
        <p:spPr>
          <a:xfrm>
            <a:off x="1671163" y="4257623"/>
            <a:ext cx="7349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Status:</a:t>
            </a:r>
            <a:r>
              <a:rPr lang="en-US" sz="1400" dirty="0"/>
              <a:t> Overall inventory status is balanced, with a few products requiring immediate attention.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4669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9FB0C-4B80-AD8E-9281-6A56912F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554F185-99A6-F6AA-B1E9-147493E40230}"/>
              </a:ext>
            </a:extLst>
          </p:cNvPr>
          <p:cNvSpPr/>
          <p:nvPr/>
        </p:nvSpPr>
        <p:spPr>
          <a:xfrm>
            <a:off x="361336" y="3672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Lato" panose="020F0502020204030203" pitchFamily="34" charset="0"/>
                <a:cs typeface="Arial" panose="020B0604020202020204" pitchFamily="34" charset="0"/>
              </a:rPr>
              <a:t>                                               Pivot Table</a:t>
            </a:r>
            <a:endParaRPr lang="en-US" sz="2000" b="1" u="sng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1E74A4E-47EC-D8D6-8143-37139147FB13}"/>
              </a:ext>
            </a:extLst>
          </p:cNvPr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58C867-7647-8271-AA29-DF072F250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9862"/>
            <a:ext cx="9144000" cy="39507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115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7" y="1084927"/>
            <a:ext cx="359745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All 7 project objectives achieved. Excel — with formula logic, pivot tables, and a KPI sheet — extracted meaningful business intelligence from 990 rows across 7 categories. Over half of orders are pending; 465 products need reorder; Fruits &amp; Vegetables leads with 33% of total sales. The KPI framework (turnover, fulfilment rate, delivery time) is adaptable to any inventory dataset. AI integration cut documentation time by ~60-70%.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  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085303" y="514350"/>
            <a:ext cx="4410559" cy="39175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Build an interactive Excel dashboard with slicers, charts, and conditional formatting for non-technical users. 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Integrate real-time data feeds via Power Automate or API connections.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Apply forecasting models (moving average, exponential smoothing) to predict reorder points. 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Migrate analysis to Power BI for advanced visualization and geo-mapping of warehouse locations. 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Fix the Status column typo (‘Reoeder required’ → ‘Reorder required’) and build a data quality audit checklist. 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Expand the dataset to include supplier lead times, purchase order data, and delivery confirmations for end-to-end supply chain analysis.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1273-29A2-4FE0-9D12-828AE557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2A9CA13-A3B0-9C51-C0A6-E7586B227165}"/>
              </a:ext>
            </a:extLst>
          </p:cNvPr>
          <p:cNvSpPr/>
          <p:nvPr/>
        </p:nvSpPr>
        <p:spPr>
          <a:xfrm>
            <a:off x="361336" y="3672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Lato" panose="020F0502020204030203" pitchFamily="34" charset="0"/>
                <a:cs typeface="Arial" panose="020B0604020202020204" pitchFamily="34" charset="0"/>
              </a:rPr>
              <a:t>                                               </a:t>
            </a:r>
            <a:r>
              <a:rPr lang="en-US" b="1" u="sng" dirty="0">
                <a:latin typeface="Lato" panose="020F0502020204030203" pitchFamily="34" charset="0"/>
                <a:cs typeface="Arial" panose="020B0604020202020204" pitchFamily="34" charset="0"/>
              </a:rPr>
              <a:t>Power BI Dashboard</a:t>
            </a:r>
            <a:endParaRPr lang="en-US" sz="2000" b="1" u="sng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2056E88-B3B4-1BD3-57B7-92A94816165B}"/>
              </a:ext>
            </a:extLst>
          </p:cNvPr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A46A37-4437-AB85-F87C-AEDED5B79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52" y="884903"/>
            <a:ext cx="8664677" cy="41221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0523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your YouTube / Google Drive / OneDrive video link here]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Excel KPI dashboard and pivot table walkthrough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900</Words>
  <Application>Microsoft Office PowerPoint</Application>
  <PresentationFormat>On-screen Show (16:9)</PresentationFormat>
  <Paragraphs>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Heena Kotwani</cp:lastModifiedBy>
  <cp:revision>31</cp:revision>
  <dcterms:created xsi:type="dcterms:W3CDTF">2026-02-18T09:17:23Z</dcterms:created>
  <dcterms:modified xsi:type="dcterms:W3CDTF">2026-04-17T07:39:40Z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